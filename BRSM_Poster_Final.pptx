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0267275" cy="21396325"/>
  <p:notesSz cx="21396325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B8E83-9C3C-5595-9285-B8300FA43D48}" v="2" dt="2026-04-25T06:17:54.410"/>
    <p1510:client id="{97B47C4F-9E13-957A-CD7B-10AA2229F51A}" v="163" dt="2026-04-23T11:26:23.285"/>
    <p1510:client id="{F4DCEA6B-A59E-4210-A7C7-22E857B4C1D8}" v="117" dt="2026-04-23T11:29:30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57CB8E83-9C3C-5595-9285-B8300FA43D48}"/>
    <pc:docChg chg="modSld">
      <pc:chgData name="Guest User" userId="" providerId="Windows Live" clId="Web-{57CB8E83-9C3C-5595-9285-B8300FA43D48}" dt="2026-04-25T06:17:54.410" v="1" actId="1076"/>
      <pc:docMkLst>
        <pc:docMk/>
      </pc:docMkLst>
      <pc:sldChg chg="modSp">
        <pc:chgData name="Guest User" userId="" providerId="Windows Live" clId="Web-{57CB8E83-9C3C-5595-9285-B8300FA43D48}" dt="2026-04-25T06:17:54.410" v="1" actId="1076"/>
        <pc:sldMkLst>
          <pc:docMk/>
          <pc:sldMk cId="0" sldId="257"/>
        </pc:sldMkLst>
        <pc:picChg chg="mod">
          <ac:chgData name="Guest User" userId="" providerId="Windows Live" clId="Web-{57CB8E83-9C3C-5595-9285-B8300FA43D48}" dt="2026-04-25T06:17:54.410" v="1" actId="1076"/>
          <ac:picMkLst>
            <pc:docMk/>
            <pc:sldMk cId="0" sldId="257"/>
            <ac:picMk id="29" creationId="{00000000-0000-0000-0000-000000000000}"/>
          </ac:picMkLst>
        </pc:picChg>
      </pc:sldChg>
    </pc:docChg>
  </pc:docChgLst>
  <pc:docChgLst>
    <pc:chgData name="Guest User" providerId="Windows Live" clId="Web-{97B47C4F-9E13-957A-CD7B-10AA2229F51A}"/>
    <pc:docChg chg="modSld">
      <pc:chgData name="Guest User" userId="" providerId="Windows Live" clId="Web-{97B47C4F-9E13-957A-CD7B-10AA2229F51A}" dt="2026-04-23T11:26:23.285" v="160" actId="1076"/>
      <pc:docMkLst>
        <pc:docMk/>
      </pc:docMkLst>
      <pc:sldChg chg="delSp modSp">
        <pc:chgData name="Guest User" userId="" providerId="Windows Live" clId="Web-{97B47C4F-9E13-957A-CD7B-10AA2229F51A}" dt="2026-04-23T11:26:23.285" v="160" actId="1076"/>
        <pc:sldMkLst>
          <pc:docMk/>
          <pc:sldMk cId="0" sldId="257"/>
        </pc:sldMkLst>
        <pc:spChg chg="mod">
          <ac:chgData name="Guest User" userId="" providerId="Windows Live" clId="Web-{97B47C4F-9E13-957A-CD7B-10AA2229F51A}" dt="2026-04-23T11:12:49.774" v="111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" providerId="Windows Live" clId="Web-{97B47C4F-9E13-957A-CD7B-10AA2229F51A}" dt="2026-04-23T11:07:16.651" v="17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" providerId="Windows Live" clId="Web-{97B47C4F-9E13-957A-CD7B-10AA2229F51A}" dt="2026-04-23T11:07:39.027" v="1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" providerId="Windows Live" clId="Web-{97B47C4F-9E13-957A-CD7B-10AA2229F51A}" dt="2026-04-23T11:26:23.285" v="160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Guest User" userId="" providerId="Windows Live" clId="Web-{97B47C4F-9E13-957A-CD7B-10AA2229F51A}" dt="2026-04-23T11:25:20.768" v="154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Guest User" userId="" providerId="Windows Live" clId="Web-{97B47C4F-9E13-957A-CD7B-10AA2229F51A}" dt="2026-04-23T11:22:29.603" v="145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Guest User" userId="" providerId="Windows Live" clId="Web-{97B47C4F-9E13-957A-CD7B-10AA2229F51A}" dt="2026-04-23T11:22:20.383" v="144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Guest User" userId="" providerId="Windows Live" clId="Web-{97B47C4F-9E13-957A-CD7B-10AA2229F51A}" dt="2026-04-23T11:23:21.404" v="150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Guest User" userId="" providerId="Windows Live" clId="Web-{97B47C4F-9E13-957A-CD7B-10AA2229F51A}" dt="2026-04-23T11:23:27.435" v="151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Guest User" userId="" providerId="Windows Live" clId="Web-{97B47C4F-9E13-957A-CD7B-10AA2229F51A}" dt="2026-04-23T11:15:55.846" v="117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Guest User" userId="" providerId="Windows Live" clId="Web-{97B47C4F-9E13-957A-CD7B-10AA2229F51A}" dt="2026-04-23T11:18:22.475" v="130" actId="107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Guest User" userId="" providerId="Windows Live" clId="Web-{97B47C4F-9E13-957A-CD7B-10AA2229F51A}" dt="2026-04-23T11:18:31.834" v="131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Guest User" userId="" providerId="Windows Live" clId="Web-{97B47C4F-9E13-957A-CD7B-10AA2229F51A}" dt="2026-04-23T11:18:16.146" v="129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Guest User" userId="" providerId="Windows Live" clId="Web-{97B47C4F-9E13-957A-CD7B-10AA2229F51A}" dt="2026-04-23T11:18:47.991" v="132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Guest User" userId="" providerId="Windows Live" clId="Web-{97B47C4F-9E13-957A-CD7B-10AA2229F51A}" dt="2026-04-23T11:16:35.269" v="120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Guest User" userId="" providerId="Windows Live" clId="Web-{97B47C4F-9E13-957A-CD7B-10AA2229F51A}" dt="2026-04-23T11:16:54.629" v="121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Guest User" userId="" providerId="Windows Live" clId="Web-{97B47C4F-9E13-957A-CD7B-10AA2229F51A}" dt="2026-04-23T11:16:27.628" v="119" actId="107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Guest User" userId="" providerId="Windows Live" clId="Web-{97B47C4F-9E13-957A-CD7B-10AA2229F51A}" dt="2026-04-23T11:14:14.699" v="116" actId="20577"/>
          <ac:spMkLst>
            <pc:docMk/>
            <pc:sldMk cId="0" sldId="257"/>
            <ac:spMk id="52" creationId="{00000000-0000-0000-0000-000000000000}"/>
          </ac:spMkLst>
        </pc:spChg>
        <pc:spChg chg="mod">
          <ac:chgData name="Guest User" userId="" providerId="Windows Live" clId="Web-{97B47C4F-9E13-957A-CD7B-10AA2229F51A}" dt="2026-04-23T11:10:40.174" v="109" actId="20577"/>
          <ac:spMkLst>
            <pc:docMk/>
            <pc:sldMk cId="0" sldId="257"/>
            <ac:spMk id="53" creationId="{00000000-0000-0000-0000-000000000000}"/>
          </ac:spMkLst>
        </pc:spChg>
        <pc:picChg chg="mod">
          <ac:chgData name="Guest User" userId="" providerId="Windows Live" clId="Web-{97B47C4F-9E13-957A-CD7B-10AA2229F51A}" dt="2026-04-23T11:26:16.551" v="159" actId="1076"/>
          <ac:picMkLst>
            <pc:docMk/>
            <pc:sldMk cId="0" sldId="257"/>
            <ac:picMk id="21" creationId="{00000000-0000-0000-0000-000000000000}"/>
          </ac:picMkLst>
        </pc:picChg>
        <pc:picChg chg="mod">
          <ac:chgData name="Guest User" userId="" providerId="Windows Live" clId="Web-{97B47C4F-9E13-957A-CD7B-10AA2229F51A}" dt="2026-04-23T11:25:45.878" v="158" actId="14100"/>
          <ac:picMkLst>
            <pc:docMk/>
            <pc:sldMk cId="0" sldId="257"/>
            <ac:picMk id="24" creationId="{00000000-0000-0000-0000-000000000000}"/>
          </ac:picMkLst>
        </pc:picChg>
        <pc:picChg chg="mod">
          <ac:chgData name="Guest User" userId="" providerId="Windows Live" clId="Web-{97B47C4F-9E13-957A-CD7B-10AA2229F51A}" dt="2026-04-23T11:21:56.118" v="143" actId="14100"/>
          <ac:picMkLst>
            <pc:docMk/>
            <pc:sldMk cId="0" sldId="257"/>
            <ac:picMk id="34" creationId="{00000000-0000-0000-0000-000000000000}"/>
          </ac:picMkLst>
        </pc:picChg>
        <pc:picChg chg="mod">
          <ac:chgData name="Guest User" userId="" providerId="Windows Live" clId="Web-{97B47C4F-9E13-957A-CD7B-10AA2229F51A}" dt="2026-04-23T11:17:29.208" v="125" actId="14100"/>
          <ac:picMkLst>
            <pc:docMk/>
            <pc:sldMk cId="0" sldId="257"/>
            <ac:picMk id="46" creationId="{00000000-0000-0000-0000-000000000000}"/>
          </ac:picMkLst>
        </pc:picChg>
      </pc:sldChg>
    </pc:docChg>
  </pc:docChgLst>
  <pc:docChgLst>
    <pc:chgData name="bharath ." userId="29c1bc694aecbc62" providerId="LiveId" clId="{B953231F-8509-416C-9779-80D262E66BCF}"/>
    <pc:docChg chg="undo custSel addSld delSld modSld">
      <pc:chgData name="bharath ." userId="29c1bc694aecbc62" providerId="LiveId" clId="{B953231F-8509-416C-9779-80D262E66BCF}" dt="2026-04-23T11:29:30.334" v="116" actId="47"/>
      <pc:docMkLst>
        <pc:docMk/>
      </pc:docMkLst>
      <pc:sldChg chg="addSp delSp modSp add del mod setBg">
        <pc:chgData name="bharath ." userId="29c1bc694aecbc62" providerId="LiveId" clId="{B953231F-8509-416C-9779-80D262E66BCF}" dt="2026-04-23T11:29:18.390" v="114" actId="47"/>
        <pc:sldMkLst>
          <pc:docMk/>
          <pc:sldMk cId="0" sldId="257"/>
        </pc:sldMkLst>
        <pc:spChg chg="add del">
          <ac:chgData name="bharath ." userId="29c1bc694aecbc62" providerId="LiveId" clId="{B953231F-8509-416C-9779-80D262E66BCF}" dt="2026-04-23T11:17:48.162" v="62" actId="21"/>
          <ac:spMkLst>
            <pc:docMk/>
            <pc:sldMk cId="0" sldId="257"/>
            <ac:spMk id="2" creationId="{00000000-0000-0000-0000-000000000000}"/>
          </ac:spMkLst>
        </pc:spChg>
        <pc:spChg chg="mod">
          <ac:chgData name="bharath ." userId="29c1bc694aecbc62" providerId="LiveId" clId="{B953231F-8509-416C-9779-80D262E66BCF}" dt="2026-04-23T11:12:11.416" v="31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bharath ." userId="29c1bc694aecbc62" providerId="LiveId" clId="{B953231F-8509-416C-9779-80D262E66BCF}" dt="2026-04-23T11:18:42.814" v="6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bharath ." userId="29c1bc694aecbc62" providerId="LiveId" clId="{B953231F-8509-416C-9779-80D262E66BCF}" dt="2026-04-23T11:19:29.930" v="79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harath ." userId="29c1bc694aecbc62" providerId="LiveId" clId="{B953231F-8509-416C-9779-80D262E66BCF}" dt="2026-04-23T11:11:03.511" v="22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harath ." userId="29c1bc694aecbc62" providerId="LiveId" clId="{B953231F-8509-416C-9779-80D262E66BCF}" dt="2026-04-23T11:11:03.511" v="2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harath ." userId="29c1bc694aecbc62" providerId="LiveId" clId="{B953231F-8509-416C-9779-80D262E66BCF}" dt="2026-04-23T11:11:03.511" v="22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harath ." userId="29c1bc694aecbc62" providerId="LiveId" clId="{B953231F-8509-416C-9779-80D262E66BCF}" dt="2026-04-23T11:23:56.600" v="102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harath ." userId="29c1bc694aecbc62" providerId="LiveId" clId="{B953231F-8509-416C-9779-80D262E66BCF}" dt="2026-04-23T11:16:52.086" v="57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bharath ." userId="29c1bc694aecbc62" providerId="LiveId" clId="{B953231F-8509-416C-9779-80D262E66BCF}" dt="2026-04-23T11:08:36.021" v="14" actId="255"/>
          <ac:spMkLst>
            <pc:docMk/>
            <pc:sldMk cId="0" sldId="257"/>
            <ac:spMk id="32" creationId="{00000000-0000-0000-0000-000000000000}"/>
          </ac:spMkLst>
        </pc:spChg>
        <pc:spChg chg="mod">
          <ac:chgData name="bharath ." userId="29c1bc694aecbc62" providerId="LiveId" clId="{B953231F-8509-416C-9779-80D262E66BCF}" dt="2026-04-23T11:25:05.329" v="108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bharath ." userId="29c1bc694aecbc62" providerId="LiveId" clId="{B953231F-8509-416C-9779-80D262E66BCF}" dt="2026-04-23T11:18:19.593" v="66" actId="1410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bharath ." userId="29c1bc694aecbc62" providerId="LiveId" clId="{B953231F-8509-416C-9779-80D262E66BCF}" dt="2026-04-23T11:15:25.844" v="50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bharath ." userId="29c1bc694aecbc62" providerId="LiveId" clId="{B953231F-8509-416C-9779-80D262E66BCF}" dt="2026-04-23T11:15:25.844" v="50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bharath ." userId="29c1bc694aecbc62" providerId="LiveId" clId="{B953231F-8509-416C-9779-80D262E66BCF}" dt="2026-04-23T11:18:07.985" v="65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bharath ." userId="29c1bc694aecbc62" providerId="LiveId" clId="{B953231F-8509-416C-9779-80D262E66BCF}" dt="2026-04-23T11:13:55.975" v="37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bharath ." userId="29c1bc694aecbc62" providerId="LiveId" clId="{B953231F-8509-416C-9779-80D262E66BCF}" dt="2026-04-23T11:28:34.361" v="110" actId="20577"/>
          <ac:spMkLst>
            <pc:docMk/>
            <pc:sldMk cId="0" sldId="257"/>
            <ac:spMk id="50" creationId="{00000000-0000-0000-0000-000000000000}"/>
          </ac:spMkLst>
        </pc:spChg>
        <pc:spChg chg="mod">
          <ac:chgData name="bharath ." userId="29c1bc694aecbc62" providerId="LiveId" clId="{B953231F-8509-416C-9779-80D262E66BCF}" dt="2026-04-23T11:19:04.562" v="71" actId="20577"/>
          <ac:spMkLst>
            <pc:docMk/>
            <pc:sldMk cId="0" sldId="257"/>
            <ac:spMk id="52" creationId="{00000000-0000-0000-0000-000000000000}"/>
          </ac:spMkLst>
        </pc:spChg>
        <pc:picChg chg="mod">
          <ac:chgData name="bharath ." userId="29c1bc694aecbc62" providerId="LiveId" clId="{B953231F-8509-416C-9779-80D262E66BCF}" dt="2026-04-23T11:11:19.010" v="23" actId="1076"/>
          <ac:picMkLst>
            <pc:docMk/>
            <pc:sldMk cId="0" sldId="257"/>
            <ac:picMk id="15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23:28.871" v="96" actId="1076"/>
          <ac:picMkLst>
            <pc:docMk/>
            <pc:sldMk cId="0" sldId="257"/>
            <ac:picMk id="21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23:21.092" v="95" actId="1076"/>
          <ac:picMkLst>
            <pc:docMk/>
            <pc:sldMk cId="0" sldId="257"/>
            <ac:picMk id="24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16:07.225" v="54" actId="14100"/>
          <ac:picMkLst>
            <pc:docMk/>
            <pc:sldMk cId="0" sldId="257"/>
            <ac:picMk id="29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09:10.375" v="17" actId="14100"/>
          <ac:picMkLst>
            <pc:docMk/>
            <pc:sldMk cId="0" sldId="257"/>
            <ac:picMk id="34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21:18.651" v="91" actId="14100"/>
          <ac:picMkLst>
            <pc:docMk/>
            <pc:sldMk cId="0" sldId="257"/>
            <ac:picMk id="40" creationId="{00000000-0000-0000-0000-000000000000}"/>
          </ac:picMkLst>
        </pc:picChg>
        <pc:picChg chg="mod">
          <ac:chgData name="bharath ." userId="29c1bc694aecbc62" providerId="LiveId" clId="{B953231F-8509-416C-9779-80D262E66BCF}" dt="2026-04-23T11:21:37.033" v="94" actId="14100"/>
          <ac:picMkLst>
            <pc:docMk/>
            <pc:sldMk cId="0" sldId="257"/>
            <ac:picMk id="46" creationId="{00000000-0000-0000-0000-000000000000}"/>
          </ac:picMkLst>
        </pc:picChg>
      </pc:sldChg>
      <pc:sldMasterChg chg="delSldLayout">
        <pc:chgData name="bharath ." userId="29c1bc694aecbc62" providerId="LiveId" clId="{B953231F-8509-416C-9779-80D262E66BCF}" dt="2026-04-23T11:29:11.007" v="111" actId="47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271000" cy="1517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118975" y="0"/>
            <a:ext cx="9272588" cy="1517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75FF4-3BB1-4F20-B951-61D3173F0AED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73450" y="3783013"/>
            <a:ext cx="14449425" cy="10215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39950" y="14566900"/>
            <a:ext cx="17116425" cy="11917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28749625"/>
            <a:ext cx="9271000" cy="1517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118975" y="28749625"/>
            <a:ext cx="9272588" cy="1517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0356E-52EA-4A59-8241-09BFD9F4ED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3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2834640"/>
          </a:xfrm>
          <a:prstGeom prst="rect">
            <a:avLst/>
          </a:prstGeom>
          <a:solidFill>
            <a:srgbClr val="B2E8F1"/>
          </a:solidFill>
          <a:ln w="12700">
            <a:solidFill>
              <a:srgbClr val="B2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38328" y="91440"/>
            <a:ext cx="2423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Headtracking Measures an Indicator of Depressive Symptoms?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338328" y="1536192"/>
            <a:ext cx="2423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>
                <a:solidFill>
                  <a:srgbClr val="1A5570"/>
                </a:solidFill>
                <a:latin typeface="Arial"/>
                <a:ea typeface="Arial" pitchFamily="34" charset="-122"/>
                <a:cs typeface="Arial"/>
              </a:rPr>
              <a:t>360° VR Experiment ·  IIIT Hyderabad</a:t>
            </a:r>
            <a:endParaRPr lang="en-US" sz="3600">
              <a:latin typeface="Arial"/>
              <a:ea typeface="Calibri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008840" y="82296"/>
            <a:ext cx="5166360" cy="2706624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008840" y="82296"/>
            <a:ext cx="5166360" cy="2706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BRSM PROJECT</a:t>
            </a:r>
            <a:endParaRPr lang="en-US" sz="1900"/>
          </a:p>
          <a:p>
            <a:pPr marL="0" indent="0" algn="ctr">
              <a:buNone/>
            </a:pPr>
            <a:r>
              <a:rPr lang="en-US" sz="19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PRESENTATION</a:t>
            </a:r>
            <a:endParaRPr lang="en-US" sz="1900"/>
          </a:p>
          <a:p>
            <a:pPr marL="0" indent="0" algn="ctr">
              <a:buNone/>
            </a:pPr>
            <a:r>
              <a:rPr lang="en-US" sz="19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2026</a:t>
            </a:r>
            <a:endParaRPr lang="en-US" sz="1900"/>
          </a:p>
        </p:txBody>
      </p:sp>
      <p:sp>
        <p:nvSpPr>
          <p:cNvPr id="8" name="Shape 6"/>
          <p:cNvSpPr/>
          <p:nvPr/>
        </p:nvSpPr>
        <p:spPr>
          <a:xfrm>
            <a:off x="338328" y="3026664"/>
            <a:ext cx="8055864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3026664"/>
            <a:ext cx="7982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338328" y="3483864"/>
            <a:ext cx="8055864" cy="662025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Background: </a:t>
            </a:r>
            <a:r>
              <a:rPr lang="en-US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Depression screening relies on self-reported questionnaires (e.g., PHQ-9) prone to recall bias. Psychomotor retardation, slowed movements, is a hallmark of depression that VR headtracking can objectively capture.
</a:t>
            </a:r>
            <a:r>
              <a:rPr lang="en-US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Reference Study: </a:t>
            </a:r>
            <a:r>
              <a:rPr lang="en-US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Srivastava &amp; </a:t>
            </a:r>
            <a:r>
              <a:rPr lang="en-US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Lahane</a:t>
            </a:r>
            <a:r>
              <a:rPr lang="en-US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(2025) found scanning speed differentiated depression groups with large effects (Cohen's d=1.22–1.64, N=50). Moderate-severe group scanned significantly slower (M=3.88°/s) vs. no depression (M=5.29°/s).
</a:t>
            </a:r>
            <a:r>
              <a:rPr lang="en-US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Our Study: </a:t>
            </a:r>
            <a:r>
              <a:rPr lang="en-US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N=40 college students (IIIT Hyderabad; 36M/4F; age M=22.78±1.80) viewed 5 different 360° videos on Meta Quest 3, completed PHQ-9, GAD-7, STAI-T, and PANAS questionnaires, and rated each video on valence, arousal, and presence.
</a:t>
            </a:r>
            <a:r>
              <a:rPr lang="en-US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Hypotheses: </a:t>
            </a:r>
            <a:r>
              <a:rPr lang="en-US" i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H1: Higher PHQ-9 → lower scanning speed. H2: Effect strongest for yaw (horizontal scanning). H3: Effect uniform across video types (psychomotor retardation, not stimulus-specific blunting).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" y="9596628"/>
            <a:ext cx="8055864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9596628"/>
            <a:ext cx="7982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38328" y="10053828"/>
            <a:ext cx="8055864" cy="403250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Groups: </a:t>
            </a:r>
            <a:r>
              <a:rPr lang="en-US" sz="160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Minimal 0–4 (n=20, 50%)  ·  Mild 5–9 (n=12, 30%)  ·  Moderate-Severe ≥10 (n=8, 20%)
</a:t>
            </a:r>
            <a:r>
              <a:rPr lang="en-US" sz="1600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Stimuli (5 × 360° videos): </a:t>
            </a:r>
            <a:r>
              <a:rPr lang="en-US" sz="160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Abandoned Buildings (eerie), Beach (calm), Campus (neutral), The Nun Horror (~3 min), Tahiti Surf (~3 min)
</a:t>
            </a:r>
            <a:r>
              <a:rPr lang="en-US" sz="1600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Measures: </a:t>
            </a:r>
            <a:r>
              <a:rPr lang="en-US" sz="160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PHQ-9 (depression), GAD-7 (anxiety), STAI-T (trait anxiety), PANAS (affect pre/post), headtracking rotational speed (total/pitch/yaw/roll), SDY (std dev of yaw), SAM valence/arousal, VRISE sickness
</a:t>
            </a:r>
            <a:r>
              <a:rPr lang="en-US" sz="1600" b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Analysis Pipeline: </a:t>
            </a:r>
            <a:r>
              <a:rPr lang="en-US" sz="160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① Shapiro-Wilk normality  ② ANCOVA (GAD-7 covariate)  ③ Regression (PHQ-9 continuous)  ④ Mixed ANOVA (</a:t>
            </a:r>
            <a:r>
              <a:rPr lang="en-US" sz="1600" err="1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Video×PHQ</a:t>
            </a:r>
            <a:r>
              <a:rPr lang="en-US" sz="160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group)  ⑤ SDY Kruskal-Wallis  ⑥ Post-hoc power analysis</a:t>
            </a:r>
            <a:endParaRPr lang="en-US" sz="1600">
              <a:latin typeface="Arial"/>
              <a:cs typeface="Arial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4502384"/>
            <a:ext cx="7964424" cy="51389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38328" y="20263104"/>
            <a:ext cx="8055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13: Key variable distributions — scanning speed normal, PHQ-9/GAD-7 right-skewed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9473184" y="3054096"/>
            <a:ext cx="13075920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546336" y="3054096"/>
            <a:ext cx="1300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9473184" y="3511296"/>
            <a:ext cx="13075920" cy="16459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Normality (Shapiro-Wilk): </a:t>
            </a:r>
            <a:r>
              <a:rPr lang="en-US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speed (total W=0.978,p=.602; yaw W=0.976,p=.537). both normal → parametric tests appropriate. PHQ-9 (W=0.898,p=.002) and GAD-7 (W=0.883,p=.001) are right-skewed as expected. All within-group speed distributions normal (all p&gt;.20).
</a:t>
            </a:r>
            <a:r>
              <a:rPr lang="en-US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ANCOVA (controlling GAD-7 anxiety): </a:t>
            </a:r>
            <a:r>
              <a:rPr lang="en-US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main effect of depression group. Total Speed F(2,36)=0.855, p=.434, η²p=.045; Yaw Speed F(2,36)=0.883, p=.422, η²p=.047. Adding STAI-T as second covariate did not change results (p=.471). All ANCOVA assumptions verified: Levene p=.119 (homogeneity of variances ✓); Group×Covariate interaction p=.958 (slope homogeneity ✓).</a:t>
            </a:r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73167" y="6200401"/>
            <a:ext cx="5029678" cy="29236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87079" y="91222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14: ANCOVA — Mean Scanning Speed by PHQ-9 Group (GAD-7 controlled)</a:t>
            </a:r>
            <a:endParaRPr lang="en-US" sz="90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071957" y="6876161"/>
            <a:ext cx="5686386" cy="28763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815034" y="9919353"/>
            <a:ext cx="6519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17: Interaction Plot — Video Type × Depression Group</a:t>
            </a:r>
            <a:endParaRPr lang="en-US" sz="900"/>
          </a:p>
        </p:txBody>
      </p:sp>
      <p:sp>
        <p:nvSpPr>
          <p:cNvPr id="26" name="Text 21"/>
          <p:cNvSpPr/>
          <p:nvPr/>
        </p:nvSpPr>
        <p:spPr>
          <a:xfrm>
            <a:off x="9640074" y="10398846"/>
            <a:ext cx="64008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— PHQ-9 as Continuous Predictor</a:t>
            </a:r>
            <a:endParaRPr lang="en-US" sz="1600"/>
          </a:p>
        </p:txBody>
      </p:sp>
      <p:sp>
        <p:nvSpPr>
          <p:cNvPr id="27" name="Text 22"/>
          <p:cNvSpPr/>
          <p:nvPr/>
        </p:nvSpPr>
        <p:spPr>
          <a:xfrm>
            <a:off x="9546336" y="10778856"/>
            <a:ext cx="6400800" cy="13716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PHQ-9 continuously avoids grouping-related power loss. All models non-significant: PHQ-9 β=−0.17 to −0.28, all p&gt;.60; R²≈.005 (~0.5% variance explained). Direction is negative (expected) but effect is trivially small. Diagnostics confirmed: VIF&lt;2.5 (no multicollinearity); Breusch-Pagan p=.788 (homoscedasticity ✓); no influential outliers (Cook's D below 4/n threshold).</a:t>
            </a:r>
            <a:endParaRPr lang="en-US" sz="140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18904" y="12362688"/>
            <a:ext cx="6309360" cy="78364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73184" y="202631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15: PHQ-9 as Continuous Predictor of Scanning Speed</a:t>
            </a:r>
            <a:endParaRPr lang="en-US" sz="900"/>
          </a:p>
        </p:txBody>
      </p:sp>
      <p:sp>
        <p:nvSpPr>
          <p:cNvPr id="31" name="Text 25"/>
          <p:cNvSpPr/>
          <p:nvPr/>
        </p:nvSpPr>
        <p:spPr>
          <a:xfrm>
            <a:off x="16111728" y="10213463"/>
            <a:ext cx="6519672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ANOVA (Video × PHQ) + SDY Analysis</a:t>
            </a:r>
            <a:endParaRPr lang="en-US" sz="1600"/>
          </a:p>
        </p:txBody>
      </p:sp>
      <p:sp>
        <p:nvSpPr>
          <p:cNvPr id="32" name="Text 26"/>
          <p:cNvSpPr/>
          <p:nvPr/>
        </p:nvSpPr>
        <p:spPr>
          <a:xfrm>
            <a:off x="16111728" y="10578722"/>
            <a:ext cx="6519672" cy="13716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type: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F(4,148)=34.99, p&lt;.001, η²p=.486 ✓ (Horror induces freeze/focus response).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 Group: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F(2,37)=0.644, p=.531 (ns). 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F(8,148)=1.233, p=.284 (ns). Sphericity met (Mauchly p&gt;.05).
</a:t>
            </a:r>
            <a:r>
              <a:rPr lang="en-US" sz="12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SDY (yaw exploration range): </a:t>
            </a: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Kruskal-Wallis H(2)=1.63, p=.443 (ns). Notable: Horror video Moderate-Severe (M=49.06) &gt; Minimal (M=28.82), p=.053, d=1.09 — opposite direction, possibly anxious vigilance.</a:t>
            </a:r>
            <a:endParaRPr lang="en-US" sz="120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047462" y="12384775"/>
            <a:ext cx="6446778" cy="796294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000468" y="20318719"/>
            <a:ext cx="6519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18: SDY Exploration Range by Depression Group and Video Type</a:t>
            </a:r>
            <a:endParaRPr lang="en-US" sz="900"/>
          </a:p>
        </p:txBody>
      </p:sp>
      <p:sp>
        <p:nvSpPr>
          <p:cNvPr id="36" name="Shape 29"/>
          <p:cNvSpPr/>
          <p:nvPr/>
        </p:nvSpPr>
        <p:spPr>
          <a:xfrm>
            <a:off x="23207472" y="3099816"/>
            <a:ext cx="6419088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0"/>
          <p:cNvSpPr/>
          <p:nvPr/>
        </p:nvSpPr>
        <p:spPr>
          <a:xfrm>
            <a:off x="23280624" y="3099816"/>
            <a:ext cx="634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WORKS</a:t>
            </a:r>
            <a:endParaRPr lang="en-US" sz="2000"/>
          </a:p>
        </p:txBody>
      </p:sp>
      <p:sp>
        <p:nvSpPr>
          <p:cNvPr id="38" name="Text 31"/>
          <p:cNvSpPr/>
          <p:nvPr/>
        </p:nvSpPr>
        <p:spPr>
          <a:xfrm>
            <a:off x="23207472" y="3557016"/>
            <a:ext cx="6419088" cy="411480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 result: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headtracking-depression relationship found across all analyses (ANCOVA, regression, mixed ANOVA, SDY).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 power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detect reference d=1.64 (Minimal vs Moderate-Severe) yet observed d=0.125. This is 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power failure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effect simply is not present at that magnitude.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Pre-VR Negative Affect (state, PANAS) correlates with reduced scanning speed: r=−.32, p=.044 (total); r=−.34, p=.031 (yaw). State mood predicts VR behavior better than trait depression.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explanations: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Reference effect sizes inflated  (2) Population differences (Indian tech-university sample)  (3) Only 20% moderate-severe vs 40% in reference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directions: </a:t>
            </a:r>
            <a:r>
              <a:rPr lang="en-US" sz="1400" i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clinical/diverse samples; manipulate state mood experimentally; perform trajectory analysis across video duration; examine anxiety-specific VR scanning with fear stimuli.</a:t>
            </a:r>
            <a:endParaRPr lang="en-US" sz="140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253192" y="8490204"/>
            <a:ext cx="6327648" cy="251002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3207472" y="11064240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20: Statistical Power Analysis — our study vs reference paper</a:t>
            </a:r>
            <a:endParaRPr lang="en-US" sz="900"/>
          </a:p>
        </p:txBody>
      </p:sp>
      <p:sp>
        <p:nvSpPr>
          <p:cNvPr id="42" name="Shape 34"/>
          <p:cNvSpPr/>
          <p:nvPr/>
        </p:nvSpPr>
        <p:spPr>
          <a:xfrm>
            <a:off x="23207472" y="11951574"/>
            <a:ext cx="6419088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23169364" y="11895959"/>
            <a:ext cx="634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</a:t>
            </a:r>
            <a:endParaRPr lang="en-US" sz="2000"/>
          </a:p>
        </p:txBody>
      </p:sp>
      <p:sp>
        <p:nvSpPr>
          <p:cNvPr id="44" name="Text 36"/>
          <p:cNvSpPr/>
          <p:nvPr/>
        </p:nvSpPr>
        <p:spPr>
          <a:xfrm>
            <a:off x="23170385" y="12371698"/>
            <a:ext cx="6419088" cy="658368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thank IIIT Hyderabad for providing research facilities, and all participants for their time and cooperation in this study.</a:t>
            </a:r>
            <a:endParaRPr lang="en-US" sz="140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3216105" y="13354812"/>
            <a:ext cx="6346194" cy="359751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3170385" y="16774967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21: Extended Correlation Matrix — Psychological Scores, Speed &amp; SDY</a:t>
            </a:r>
            <a:endParaRPr lang="en-US" sz="900"/>
          </a:p>
        </p:txBody>
      </p:sp>
      <p:sp>
        <p:nvSpPr>
          <p:cNvPr id="48" name="Shape 39"/>
          <p:cNvSpPr/>
          <p:nvPr/>
        </p:nvSpPr>
        <p:spPr>
          <a:xfrm>
            <a:off x="23179658" y="17325923"/>
            <a:ext cx="6419088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0"/>
          <p:cNvSpPr/>
          <p:nvPr/>
        </p:nvSpPr>
        <p:spPr>
          <a:xfrm>
            <a:off x="23242516" y="17344965"/>
            <a:ext cx="6345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000"/>
          </a:p>
        </p:txBody>
      </p:sp>
      <p:sp>
        <p:nvSpPr>
          <p:cNvPr id="50" name="Text 41"/>
          <p:cNvSpPr/>
          <p:nvPr/>
        </p:nvSpPr>
        <p:spPr>
          <a:xfrm>
            <a:off x="23243537" y="17765088"/>
            <a:ext cx="6419088" cy="187452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Kroenke et al. (2001).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PHQ-9. JGIM, 16(9), 606–613.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Spitzer et al. (2006).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GAD-7. Arch Intern Med, 166(10), 1092–1097.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Srivastava &amp; Lahane (2025).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scans &amp; depression. CogSci 2025. 
</a:t>
            </a:r>
            <a:r>
              <a:rPr lang="en-US" sz="14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 et al. (1988). </a:t>
            </a:r>
            <a:r>
              <a:rPr lang="en-US" sz="14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PANAS. JPSP, 54(6), 1063–1070.</a:t>
            </a:r>
            <a:endParaRPr lang="en-US" sz="1400"/>
          </a:p>
        </p:txBody>
      </p:sp>
      <p:sp>
        <p:nvSpPr>
          <p:cNvPr id="51" name="Shape 42"/>
          <p:cNvSpPr/>
          <p:nvPr/>
        </p:nvSpPr>
        <p:spPr>
          <a:xfrm>
            <a:off x="0" y="20583144"/>
            <a:ext cx="30266640" cy="822960"/>
          </a:xfrm>
          <a:prstGeom prst="rect">
            <a:avLst/>
          </a:prstGeom>
          <a:solidFill>
            <a:srgbClr val="33ABBF"/>
          </a:solidFill>
          <a:ln w="12700">
            <a:solidFill>
              <a:srgbClr val="33AB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3"/>
          <p:cNvSpPr/>
          <p:nvPr/>
        </p:nvSpPr>
        <p:spPr>
          <a:xfrm>
            <a:off x="2363337" y="20546062"/>
            <a:ext cx="13483793" cy="767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i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Author names </a:t>
            </a:r>
            <a:r>
              <a:rPr lang="en-US" sz="1100" i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80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Bharath 2022101044, Vishnu 2023121009, Pooja Rani </a:t>
            </a:r>
            <a:r>
              <a:rPr lang="en-US" sz="28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2024204019</a:t>
            </a:r>
            <a:endParaRPr lang="en-US" sz="2800"/>
          </a:p>
        </p:txBody>
      </p:sp>
      <p:sp>
        <p:nvSpPr>
          <p:cNvPr id="53" name="Text 44"/>
          <p:cNvSpPr/>
          <p:nvPr/>
        </p:nvSpPr>
        <p:spPr>
          <a:xfrm>
            <a:off x="19659600" y="20583144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i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</cp:revision>
  <dcterms:created xsi:type="dcterms:W3CDTF">2026-04-23T05:59:44Z</dcterms:created>
  <dcterms:modified xsi:type="dcterms:W3CDTF">2026-04-25T06:18:03Z</dcterms:modified>
</cp:coreProperties>
</file>